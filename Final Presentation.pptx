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Afacad Flux"/>
      <p:regular r:id="rId23"/>
      <p:bold r:id="rId24"/>
    </p:embeddedFont>
    <p:embeddedFont>
      <p:font typeface="Newsreader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  <p:embeddedFont>
      <p:font typeface="DM Sans SemiBold"/>
      <p:regular r:id="rId33"/>
      <p:bold r:id="rId34"/>
      <p:italic r:id="rId35"/>
      <p:boldItalic r:id="rId36"/>
    </p:embeddedFont>
    <p:embeddedFont>
      <p:font typeface="DM Sans"/>
      <p:regular r:id="rId37"/>
      <p:bold r:id="rId38"/>
      <p:italic r:id="rId39"/>
      <p:boldItalic r:id="rId40"/>
    </p:embeddedFont>
    <p:embeddedFont>
      <p:font typeface="Newsreader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42" Type="http://schemas.openxmlformats.org/officeDocument/2006/relationships/font" Target="fonts/NewsreaderSemiBold-bold.fntdata"/><Relationship Id="rId41" Type="http://schemas.openxmlformats.org/officeDocument/2006/relationships/font" Target="fonts/NewsreaderSemiBold-regular.fntdata"/><Relationship Id="rId44" Type="http://schemas.openxmlformats.org/officeDocument/2006/relationships/font" Target="fonts/NewsreaderSemiBold-boldItalic.fntdata"/><Relationship Id="rId43" Type="http://schemas.openxmlformats.org/officeDocument/2006/relationships/font" Target="fonts/Newsreader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33" Type="http://schemas.openxmlformats.org/officeDocument/2006/relationships/font" Target="fonts/DMSansSemiBold-regular.fntdata"/><Relationship Id="rId32" Type="http://schemas.openxmlformats.org/officeDocument/2006/relationships/font" Target="fonts/DMSansLight-boldItalic.fntdata"/><Relationship Id="rId35" Type="http://schemas.openxmlformats.org/officeDocument/2006/relationships/font" Target="fonts/DMSansSemiBold-italic.fntdata"/><Relationship Id="rId34" Type="http://schemas.openxmlformats.org/officeDocument/2006/relationships/font" Target="fonts/DMSansSemiBold-bold.fntdata"/><Relationship Id="rId37" Type="http://schemas.openxmlformats.org/officeDocument/2006/relationships/font" Target="fonts/DMSans-regular.fntdata"/><Relationship Id="rId36" Type="http://schemas.openxmlformats.org/officeDocument/2006/relationships/font" Target="fonts/DMSansSemiBold-boldItalic.fntdata"/><Relationship Id="rId39" Type="http://schemas.openxmlformats.org/officeDocument/2006/relationships/font" Target="fonts/DMSans-italic.fntdata"/><Relationship Id="rId38" Type="http://schemas.openxmlformats.org/officeDocument/2006/relationships/font" Target="fonts/DMSa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facadFlux-bold.fntdata"/><Relationship Id="rId23" Type="http://schemas.openxmlformats.org/officeDocument/2006/relationships/font" Target="fonts/AfacadFlux-regular.fntdata"/><Relationship Id="rId26" Type="http://schemas.openxmlformats.org/officeDocument/2006/relationships/font" Target="fonts/Newsreader-bold.fntdata"/><Relationship Id="rId25" Type="http://schemas.openxmlformats.org/officeDocument/2006/relationships/font" Target="fonts/Newsreader-regular.fntdata"/><Relationship Id="rId28" Type="http://schemas.openxmlformats.org/officeDocument/2006/relationships/font" Target="fonts/Newsreader-boldItalic.fntdata"/><Relationship Id="rId27" Type="http://schemas.openxmlformats.org/officeDocument/2006/relationships/font" Target="fonts/Newsreader-italic.fntdata"/><Relationship Id="rId29" Type="http://schemas.openxmlformats.org/officeDocument/2006/relationships/font" Target="fonts/DMSans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8d30e4266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8d30e4266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8d30e4266_0_2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8d30e4266_0_2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8d30e4266_0_2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a8d30e4266_0_2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8d30e4266_0_2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8d30e4266_0_2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- Underlined rules are ones that we can emphasize. Last underlined one can lead us to talking about the N:N relationship, which can be broken down into a bridge table. Not mentioned here because that’s not a business rule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8d30e4266_0_2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8d30e4266_0_2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8d30e4266_0_2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8d30e4266_0_2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- Tables with a fire are the ones meeting the 5 attribute minimum requirement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d30e4266_0_2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8d30e4266_0_2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8d30e4266_0_2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a8d30e4266_0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a8d30e4266_0_2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a8d30e4266_0_2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8d30e4266_0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8d30e4266_0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8d30e4266_0_2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a8d30e4266_0_2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8d30e4266_0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a8d30e4266_0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8d30e4266_0_2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a8d30e4266_0_2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a927e303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aa927e303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a927e303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a927e303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a927e303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aa927e303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hyperlink" Target="mailto:rui2.zhang@torontomu.c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7"/>
          <p:cNvPicPr preferRelativeResize="0"/>
          <p:nvPr/>
        </p:nvPicPr>
        <p:blipFill rotWithShape="1">
          <a:blip r:embed="rId3">
            <a:alphaModFix/>
          </a:blip>
          <a:srcRect b="0" l="9408" r="39899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latin typeface="Afacad Flux"/>
                <a:ea typeface="Afacad Flux"/>
                <a:cs typeface="Afacad Flux"/>
                <a:sym typeface="Afacad Flux"/>
              </a:rPr>
              <a:t>Summer Camp Database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CCPS510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Final Presentation</a:t>
            </a:r>
            <a:endParaRPr sz="1200"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facad Flux"/>
                <a:ea typeface="Afacad Flux"/>
                <a:cs typeface="Afacad Flux"/>
                <a:sym typeface="Afacad Flux"/>
              </a:rPr>
              <a:t>Johnathan Spinelli - jspinelli</a:t>
            </a:r>
            <a:endParaRPr sz="2200"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facad Flux"/>
                <a:ea typeface="Afacad Flux"/>
                <a:cs typeface="Afacad Flux"/>
                <a:sym typeface="Afacad Flux"/>
              </a:rPr>
              <a:t>Rui Zhang - </a:t>
            </a:r>
            <a:r>
              <a:rPr lang="en" sz="2200">
                <a:uFill>
                  <a:noFill/>
                </a:uFill>
                <a:latin typeface="Afacad Flux"/>
                <a:ea typeface="Afacad Flux"/>
                <a:cs typeface="Afacad Flux"/>
                <a:sym typeface="Afacad Flux"/>
                <a:hlinkClick r:id="rId4"/>
              </a:rPr>
              <a:t>rui2.zhang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06964">
            <a:off x="5431324" y="-2078324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8"/>
          <p:cNvSpPr txBox="1"/>
          <p:nvPr>
            <p:ph type="title"/>
          </p:nvPr>
        </p:nvSpPr>
        <p:spPr>
          <a:xfrm>
            <a:off x="361975" y="1325950"/>
            <a:ext cx="79983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Children attend summer camps to spend time outdoors, develop new skills and make new friends</a:t>
            </a:r>
            <a:endParaRPr sz="1450"/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These summer camps often have a lot of planning in order to make things run smoothly, as there is a lot of responsibility placed on the coordinators watching over a large group of children in the wilderness. </a:t>
            </a:r>
            <a:endParaRPr sz="1450"/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Activities for campers to sign up for, allowing them to customize their own camp experience </a:t>
            </a:r>
            <a:endParaRPr sz="1450"/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Parents/Guardians may want to check in on their children throughout the week</a:t>
            </a:r>
            <a:endParaRPr sz="1450"/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Campers earn badges for learning or displaying a skill during an activity, such as fire starting</a:t>
            </a:r>
            <a:endParaRPr sz="1450"/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/>
              <a:t>The database solution will provide structure to the camp organizers, allowing for recording participant information and planning events held throughout the duration of the camp.</a:t>
            </a:r>
            <a:endParaRPr sz="1450"/>
          </a:p>
        </p:txBody>
      </p:sp>
      <p:sp>
        <p:nvSpPr>
          <p:cNvPr id="523" name="Google Shape;523;p68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Topic Overview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D5CD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29" name="Google Shape;529;p69"/>
          <p:cNvSpPr txBox="1"/>
          <p:nvPr>
            <p:ph type="title"/>
          </p:nvPr>
        </p:nvSpPr>
        <p:spPr>
          <a:xfrm>
            <a:off x="321325" y="11490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Database will contain records for each of the campers and </a:t>
            </a:r>
            <a:r>
              <a:rPr lang="en" sz="1450">
                <a:solidFill>
                  <a:schemeClr val="lt1"/>
                </a:solidFill>
              </a:rPr>
              <a:t>counsellor</a:t>
            </a:r>
            <a:r>
              <a:rPr lang="en" sz="1450">
                <a:solidFill>
                  <a:schemeClr val="lt1"/>
                </a:solidFill>
              </a:rPr>
              <a:t>s 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Activity table </a:t>
            </a:r>
            <a:r>
              <a:rPr lang="en" sz="1450">
                <a:solidFill>
                  <a:schemeClr val="lt1"/>
                </a:solidFill>
              </a:rPr>
              <a:t>containing</a:t>
            </a:r>
            <a:r>
              <a:rPr lang="en" sz="1450">
                <a:solidFill>
                  <a:schemeClr val="lt1"/>
                </a:solidFill>
              </a:rPr>
              <a:t> a list of all possible activities that can take place at the camp</a:t>
            </a:r>
            <a:endParaRPr sz="1450">
              <a:solidFill>
                <a:schemeClr val="lt1"/>
              </a:solidFill>
            </a:endParaRPr>
          </a:p>
          <a:p>
            <a:pPr indent="-3206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Newsreader"/>
              <a:buChar char="○"/>
            </a:pPr>
            <a:r>
              <a:rPr lang="en" sz="145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hiking, kayaking, soccer, etc.</a:t>
            </a:r>
            <a:endParaRPr sz="145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Newsreader"/>
              <a:buChar char="●"/>
            </a:pPr>
            <a:r>
              <a:rPr lang="en" sz="1450">
                <a:solidFill>
                  <a:schemeClr val="lt1"/>
                </a:solidFill>
              </a:rPr>
              <a:t>Event table contains the scheduling for where and when the activity will take place, which </a:t>
            </a:r>
            <a:r>
              <a:rPr lang="en" sz="1450">
                <a:solidFill>
                  <a:schemeClr val="lt1"/>
                </a:solidFill>
              </a:rPr>
              <a:t>counsellor</a:t>
            </a:r>
            <a:r>
              <a:rPr lang="en" sz="1450">
                <a:solidFill>
                  <a:schemeClr val="lt1"/>
                </a:solidFill>
              </a:rPr>
              <a:t> is leading the event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Parents will be able to sign their campers up for events in advance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Activities may have an associated badge for campers to earn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Parents can track their child’s progress through their badge collection table</a:t>
            </a:r>
            <a:endParaRPr sz="14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Parents would use a website to manage their child’s camp experience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Admin staff have full access to database, planning activities and events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C</a:t>
            </a:r>
            <a:r>
              <a:rPr lang="en" sz="1450">
                <a:solidFill>
                  <a:schemeClr val="lt1"/>
                </a:solidFill>
              </a:rPr>
              <a:t>ounsellor</a:t>
            </a:r>
            <a:r>
              <a:rPr lang="en" sz="1450">
                <a:solidFill>
                  <a:schemeClr val="lt1"/>
                </a:solidFill>
              </a:rPr>
              <a:t>s can see registration for their events and emergency contact info for campers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Application to update a camper’s badge collection based on completed events</a:t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530" name="Google Shape;530;p69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Solution</a:t>
            </a:r>
            <a:endParaRPr i="1"/>
          </a:p>
        </p:txBody>
      </p:sp>
      <p:pic>
        <p:nvPicPr>
          <p:cNvPr id="531" name="Google Shape;5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775" y="2019100"/>
            <a:ext cx="2267499" cy="226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37" name="Google Shape;537;p70"/>
          <p:cNvSpPr txBox="1"/>
          <p:nvPr>
            <p:ph type="title"/>
          </p:nvPr>
        </p:nvSpPr>
        <p:spPr>
          <a:xfrm>
            <a:off x="321325" y="1149050"/>
            <a:ext cx="8038500" cy="36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Counsellors have exactly one address, and campers have exactly one address, but an address may belong to many counsellors and/or campers. An address cannot exist without an associated counsellor or camper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 u="sng">
                <a:solidFill>
                  <a:schemeClr val="lt1"/>
                </a:solidFill>
              </a:rPr>
              <a:t>A camper has exactly one guardian, and a guardian can belong to multiple campers</a:t>
            </a:r>
            <a:endParaRPr sz="1450" u="sng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Counsellors can lead many events, and each event has exactly one </a:t>
            </a:r>
            <a:r>
              <a:rPr lang="en" sz="1450">
                <a:solidFill>
                  <a:schemeClr val="lt1"/>
                </a:solidFill>
              </a:rPr>
              <a:t>counsellor</a:t>
            </a:r>
            <a:r>
              <a:rPr lang="en" sz="1450">
                <a:solidFill>
                  <a:schemeClr val="lt1"/>
                </a:solidFill>
              </a:rPr>
              <a:t> leading the event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 u="sng">
                <a:solidFill>
                  <a:schemeClr val="lt1"/>
                </a:solidFill>
              </a:rPr>
              <a:t>An event has one corresponding activity, but an activity may be run for many events</a:t>
            </a:r>
            <a:endParaRPr sz="1450" u="sng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Each event takes place at a campground location, and a location may be used for many different events</a:t>
            </a:r>
            <a:endParaRPr sz="1450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 u="sng">
                <a:solidFill>
                  <a:schemeClr val="lt1"/>
                </a:solidFill>
              </a:rPr>
              <a:t>An activity may only have one badge associated with it, but a badge may be associated with many activities</a:t>
            </a:r>
            <a:endParaRPr sz="1450" u="sng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 camper may earn many badges, and a badge may belong to many campers </a:t>
            </a:r>
            <a:endParaRPr sz="1450">
              <a:solidFill>
                <a:schemeClr val="lt1"/>
              </a:solidFill>
            </a:endParaRPr>
          </a:p>
          <a:p>
            <a:pPr indent="-3206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Newsreader"/>
              <a:buChar char="○"/>
            </a:pPr>
            <a:r>
              <a:rPr lang="en" sz="145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It’s also possible that a rare badge exists that no campers have earned yet</a:t>
            </a:r>
            <a:endParaRPr sz="145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 u="sng">
                <a:solidFill>
                  <a:schemeClr val="lt1"/>
                </a:solidFill>
              </a:rPr>
              <a:t>A camper can register for many events, and each event can have many campers registered (N:N)</a:t>
            </a:r>
            <a:endParaRPr sz="1450" u="sng">
              <a:solidFill>
                <a:schemeClr val="lt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Char char="●"/>
            </a:pPr>
            <a:r>
              <a:rPr lang="en" sz="1450">
                <a:solidFill>
                  <a:schemeClr val="lt1"/>
                </a:solidFill>
              </a:rPr>
              <a:t>An activity may have many equipment items, but each item belongs to a single activity</a:t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538" name="Google Shape;538;p70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Rules</a:t>
            </a:r>
            <a:endParaRPr i="1"/>
          </a:p>
        </p:txBody>
      </p:sp>
      <p:pic>
        <p:nvPicPr>
          <p:cNvPr descr="a clipboard with a piece of paper free icon (Provided by Tenor)" id="539" name="Google Shape;539;p70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-1338046">
            <a:off x="2970992" y="401594"/>
            <a:ext cx="500566" cy="50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485287">
            <a:off x="6705791" y="1653532"/>
            <a:ext cx="4141779" cy="2629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46" name="Google Shape;546;p71"/>
          <p:cNvSpPr txBox="1"/>
          <p:nvPr>
            <p:ph type="title"/>
          </p:nvPr>
        </p:nvSpPr>
        <p:spPr>
          <a:xfrm>
            <a:off x="4232250" y="1719900"/>
            <a:ext cx="4675800" cy="13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A single event required a lot of information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Broken down into separate tables, which can be used for multiple different activities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Same activity can happen multiple times per week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Badges are easier to associate with activities and campers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547" name="Google Shape;547;p71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 i="1"/>
          </a:p>
        </p:txBody>
      </p:sp>
      <p:pic>
        <p:nvPicPr>
          <p:cNvPr id="548" name="Google Shape;548;p71" title="Normalization.drawio (2).png"/>
          <p:cNvPicPr preferRelativeResize="0"/>
          <p:nvPr/>
        </p:nvPicPr>
        <p:blipFill rotWithShape="1">
          <a:blip r:embed="rId3">
            <a:alphaModFix/>
          </a:blip>
          <a:srcRect b="75935" l="0" r="0" t="0"/>
          <a:stretch/>
        </p:blipFill>
        <p:spPr>
          <a:xfrm>
            <a:off x="3063312" y="148975"/>
            <a:ext cx="5705713" cy="110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1" title="Normalization.drawio (2).png"/>
          <p:cNvPicPr preferRelativeResize="0"/>
          <p:nvPr/>
        </p:nvPicPr>
        <p:blipFill rotWithShape="1">
          <a:blip r:embed="rId3">
            <a:alphaModFix/>
          </a:blip>
          <a:srcRect b="31439" l="0" r="41269" t="23685"/>
          <a:stretch/>
        </p:blipFill>
        <p:spPr>
          <a:xfrm>
            <a:off x="186175" y="1257200"/>
            <a:ext cx="3769774" cy="232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1" title="Normalization.drawio (2).png"/>
          <p:cNvPicPr preferRelativeResize="0"/>
          <p:nvPr/>
        </p:nvPicPr>
        <p:blipFill rotWithShape="1">
          <a:blip r:embed="rId3">
            <a:alphaModFix/>
          </a:blip>
          <a:srcRect b="360" l="0" r="48445" t="67141"/>
          <a:stretch/>
        </p:blipFill>
        <p:spPr>
          <a:xfrm>
            <a:off x="4114400" y="3325400"/>
            <a:ext cx="3309199" cy="16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71" title="Normalization.drawio (2).png"/>
          <p:cNvPicPr preferRelativeResize="0"/>
          <p:nvPr/>
        </p:nvPicPr>
        <p:blipFill rotWithShape="1">
          <a:blip r:embed="rId3">
            <a:alphaModFix/>
          </a:blip>
          <a:srcRect b="360" l="59674" r="15309" t="67141"/>
          <a:stretch/>
        </p:blipFill>
        <p:spPr>
          <a:xfrm>
            <a:off x="7423600" y="3325400"/>
            <a:ext cx="1605699" cy="16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72" title="Camp ER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12" y="0"/>
            <a:ext cx="888186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5" y="112075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734" y="112075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59" y="3092075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741" y="2054050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718" y="-90751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5518" y="1848709"/>
            <a:ext cx="359700" cy="3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8493" y="3433099"/>
            <a:ext cx="359700" cy="3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3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Sample Data - Addresses</a:t>
            </a:r>
            <a:endParaRPr i="1">
              <a:solidFill>
                <a:schemeClr val="dk1"/>
              </a:solidFill>
            </a:endParaRPr>
          </a:p>
        </p:txBody>
      </p:sp>
      <p:grpSp>
        <p:nvGrpSpPr>
          <p:cNvPr id="569" name="Google Shape;569;p73"/>
          <p:cNvGrpSpPr/>
          <p:nvPr/>
        </p:nvGrpSpPr>
        <p:grpSpPr>
          <a:xfrm>
            <a:off x="7467659" y="135259"/>
            <a:ext cx="1450808" cy="1413617"/>
            <a:chOff x="5801317" y="-225444"/>
            <a:chExt cx="2398823" cy="2337330"/>
          </a:xfrm>
        </p:grpSpPr>
        <p:pic>
          <p:nvPicPr>
            <p:cNvPr id="570" name="Google Shape;57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384243">
              <a:off x="6561150" y="52401"/>
              <a:ext cx="1361145" cy="1361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26994">
              <a:off x="5833067" y="328467"/>
              <a:ext cx="1751669" cy="1751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2" name="Google Shape;572;p73" title="Hou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650" y="3985325"/>
            <a:ext cx="670225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3" title="Hou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650" y="3002687"/>
            <a:ext cx="670225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3" title="Hou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0275" y="3467500"/>
            <a:ext cx="670225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075" y="3075150"/>
            <a:ext cx="4159049" cy="18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063" y="1277225"/>
            <a:ext cx="3839667" cy="15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4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Sample Data - Campers</a:t>
            </a:r>
            <a:endParaRPr i="1">
              <a:solidFill>
                <a:schemeClr val="dk1"/>
              </a:solidFill>
            </a:endParaRPr>
          </a:p>
        </p:txBody>
      </p:sp>
      <p:grpSp>
        <p:nvGrpSpPr>
          <p:cNvPr id="582" name="Google Shape;582;p74"/>
          <p:cNvGrpSpPr/>
          <p:nvPr/>
        </p:nvGrpSpPr>
        <p:grpSpPr>
          <a:xfrm>
            <a:off x="7467659" y="135259"/>
            <a:ext cx="1450808" cy="1413617"/>
            <a:chOff x="5801317" y="-225444"/>
            <a:chExt cx="2398823" cy="2337330"/>
          </a:xfrm>
        </p:grpSpPr>
        <p:pic>
          <p:nvPicPr>
            <p:cNvPr id="583" name="Google Shape;583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384243">
              <a:off x="6561150" y="52401"/>
              <a:ext cx="1361145" cy="1361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4" name="Google Shape;584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26994">
              <a:off x="5833067" y="328467"/>
              <a:ext cx="1751669" cy="1751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5" name="Google Shape;585;p74" title="K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7973" y="3985325"/>
            <a:ext cx="489580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74" title="K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0598" y="3467500"/>
            <a:ext cx="489580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4" title="K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7973" y="3002675"/>
            <a:ext cx="489580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075" y="1277225"/>
            <a:ext cx="6276226" cy="17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075" y="3075150"/>
            <a:ext cx="3589327" cy="17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75" title="Cano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650" y="4028625"/>
            <a:ext cx="670225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75" title="Cano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275" y="3489150"/>
            <a:ext cx="670225" cy="6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5" title="Cano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650" y="3024338"/>
            <a:ext cx="670225" cy="6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5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Sample Data - Events</a:t>
            </a:r>
            <a:endParaRPr i="1">
              <a:solidFill>
                <a:schemeClr val="dk1"/>
              </a:solidFill>
            </a:endParaRPr>
          </a:p>
        </p:txBody>
      </p:sp>
      <p:grpSp>
        <p:nvGrpSpPr>
          <p:cNvPr id="598" name="Google Shape;598;p75"/>
          <p:cNvGrpSpPr/>
          <p:nvPr/>
        </p:nvGrpSpPr>
        <p:grpSpPr>
          <a:xfrm>
            <a:off x="7467659" y="135259"/>
            <a:ext cx="1450808" cy="1413617"/>
            <a:chOff x="5801317" y="-225444"/>
            <a:chExt cx="2398823" cy="2337330"/>
          </a:xfrm>
        </p:grpSpPr>
        <p:pic>
          <p:nvPicPr>
            <p:cNvPr id="599" name="Google Shape;599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384243">
              <a:off x="6561150" y="52401"/>
              <a:ext cx="1361145" cy="1361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26994">
              <a:off x="5833067" y="328467"/>
              <a:ext cx="1751669" cy="1751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1" name="Google Shape;60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075" y="1277225"/>
            <a:ext cx="5751638" cy="17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075" y="3075150"/>
            <a:ext cx="4303804" cy="17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76" title="Regist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975" y="3945194"/>
            <a:ext cx="489575" cy="750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76" title="Regist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0600" y="3427369"/>
            <a:ext cx="489575" cy="750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6" title="Regist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975" y="2962556"/>
            <a:ext cx="489575" cy="75048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6"/>
          <p:cNvSpPr txBox="1"/>
          <p:nvPr>
            <p:ph idx="4294967295" type="title"/>
          </p:nvPr>
        </p:nvSpPr>
        <p:spPr>
          <a:xfrm>
            <a:off x="361975" y="369292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Sample Data - Registration</a:t>
            </a:r>
            <a:endParaRPr i="1">
              <a:solidFill>
                <a:schemeClr val="dk1"/>
              </a:solidFill>
            </a:endParaRPr>
          </a:p>
        </p:txBody>
      </p:sp>
      <p:grpSp>
        <p:nvGrpSpPr>
          <p:cNvPr id="611" name="Google Shape;611;p76"/>
          <p:cNvGrpSpPr/>
          <p:nvPr/>
        </p:nvGrpSpPr>
        <p:grpSpPr>
          <a:xfrm>
            <a:off x="7467659" y="135259"/>
            <a:ext cx="1450808" cy="1413617"/>
            <a:chOff x="5801317" y="-225444"/>
            <a:chExt cx="2398823" cy="2337330"/>
          </a:xfrm>
        </p:grpSpPr>
        <p:pic>
          <p:nvPicPr>
            <p:cNvPr id="612" name="Google Shape;612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384243">
              <a:off x="6561150" y="52401"/>
              <a:ext cx="1361145" cy="1361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26994">
              <a:off x="5833067" y="328467"/>
              <a:ext cx="1751669" cy="1751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4" name="Google Shape;61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075" y="1277225"/>
            <a:ext cx="6481551" cy="124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063" y="2642615"/>
            <a:ext cx="1842725" cy="224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C3C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21" name="Google Shape;621;p77"/>
          <p:cNvSpPr txBox="1"/>
          <p:nvPr>
            <p:ph type="title"/>
          </p:nvPr>
        </p:nvSpPr>
        <p:spPr>
          <a:xfrm>
            <a:off x="783700" y="13259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Admin staff put </a:t>
            </a:r>
            <a:r>
              <a:rPr lang="en" sz="1500">
                <a:solidFill>
                  <a:srgbClr val="000000"/>
                </a:solidFill>
              </a:rPr>
              <a:t>together</a:t>
            </a:r>
            <a:r>
              <a:rPr lang="en" sz="1500">
                <a:solidFill>
                  <a:srgbClr val="000000"/>
                </a:solidFill>
              </a:rPr>
              <a:t> a weekly “report card” for the campers, and they want input from each of the counsellors who spent time with them. Admin wants a list of how many times each camper did an activity with their counsellors.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22" name="Google Shape;622;p77"/>
          <p:cNvSpPr txBox="1"/>
          <p:nvPr>
            <p:ph idx="4294967295" type="title"/>
          </p:nvPr>
        </p:nvSpPr>
        <p:spPr>
          <a:xfrm>
            <a:off x="361975" y="369300"/>
            <a:ext cx="6440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Sample Query - Camper &amp; Counsellor</a:t>
            </a:r>
            <a:endParaRPr i="1">
              <a:solidFill>
                <a:srgbClr val="000000"/>
              </a:solidFill>
            </a:endParaRPr>
          </a:p>
        </p:txBody>
      </p:sp>
      <p:pic>
        <p:nvPicPr>
          <p:cNvPr id="623" name="Google Shape;6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8" y="2205450"/>
            <a:ext cx="3555558" cy="27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450" y="2205452"/>
            <a:ext cx="4749224" cy="2324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C3C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30" name="Google Shape;630;p78"/>
          <p:cNvSpPr txBox="1"/>
          <p:nvPr>
            <p:ph type="title"/>
          </p:nvPr>
        </p:nvSpPr>
        <p:spPr>
          <a:xfrm>
            <a:off x="783700" y="13259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At the end of the week, there is a ceremony where the counsellors hand out badges to the campers. The director needs to know how many of each badge to bring to the ceremony.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31" name="Google Shape;631;p78"/>
          <p:cNvSpPr txBox="1"/>
          <p:nvPr>
            <p:ph idx="4294967295" type="title"/>
          </p:nvPr>
        </p:nvSpPr>
        <p:spPr>
          <a:xfrm>
            <a:off x="361975" y="369300"/>
            <a:ext cx="6440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Sample Query - Badge Ceremony</a:t>
            </a:r>
            <a:endParaRPr i="1">
              <a:solidFill>
                <a:srgbClr val="000000"/>
              </a:solidFill>
            </a:endParaRPr>
          </a:p>
        </p:txBody>
      </p:sp>
      <p:pic>
        <p:nvPicPr>
          <p:cNvPr id="632" name="Google Shape;63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5" y="2344450"/>
            <a:ext cx="3483026" cy="1215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450" y="2344450"/>
            <a:ext cx="3025100" cy="16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C3C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39" name="Google Shape;639;p79"/>
          <p:cNvSpPr txBox="1"/>
          <p:nvPr>
            <p:ph type="title"/>
          </p:nvPr>
        </p:nvSpPr>
        <p:spPr>
          <a:xfrm>
            <a:off x="783700" y="13259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Parents want to monitor their child’s progress throughout the week, seeing what badges they have earned and which activity it was earned through (if applicable).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40" name="Google Shape;640;p79"/>
          <p:cNvSpPr txBox="1"/>
          <p:nvPr>
            <p:ph idx="4294967295" type="title"/>
          </p:nvPr>
        </p:nvSpPr>
        <p:spPr>
          <a:xfrm>
            <a:off x="361975" y="369300"/>
            <a:ext cx="6440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Sample Query - Badge Collection</a:t>
            </a:r>
            <a:endParaRPr i="1">
              <a:solidFill>
                <a:srgbClr val="000000"/>
              </a:solidFill>
            </a:endParaRPr>
          </a:p>
        </p:txBody>
      </p:sp>
      <p:pic>
        <p:nvPicPr>
          <p:cNvPr id="641" name="Google Shape;64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975" y="2344450"/>
            <a:ext cx="4828701" cy="724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75" y="2344450"/>
            <a:ext cx="3482026" cy="1799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C3C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48" name="Google Shape;648;p80"/>
          <p:cNvSpPr txBox="1"/>
          <p:nvPr>
            <p:ph type="title"/>
          </p:nvPr>
        </p:nvSpPr>
        <p:spPr>
          <a:xfrm>
            <a:off x="783700" y="13259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Location availability - given a time range, check if a location is being used within that window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Assigned buddy - see which campers are registered for multiple activities throughout the week, counsellors can partner them up on the first day to make friends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Mailing list - houses with multiple children or both campers and counsellors don’t need to receive multiple pamphlets.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Activity refinement - activities with the least registrations may be phased out for next year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49" name="Google Shape;649;p80"/>
          <p:cNvSpPr txBox="1"/>
          <p:nvPr>
            <p:ph idx="4294967295" type="title"/>
          </p:nvPr>
        </p:nvSpPr>
        <p:spPr>
          <a:xfrm>
            <a:off x="361975" y="369300"/>
            <a:ext cx="6440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Other Potential Queries</a:t>
            </a:r>
            <a:endParaRPr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C3C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55" name="Google Shape;655;p81"/>
          <p:cNvSpPr txBox="1"/>
          <p:nvPr>
            <p:ph type="title"/>
          </p:nvPr>
        </p:nvSpPr>
        <p:spPr>
          <a:xfrm>
            <a:off x="783700" y="1325950"/>
            <a:ext cx="7576500" cy="3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Database design allows for future modifications or additions: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Allergy database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Counsellor certifications (First Aid, Lifeguard, etc.)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Identifiers for returning campers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Changes to the database would also require changes to the </a:t>
            </a:r>
            <a:r>
              <a:rPr lang="en" sz="1500">
                <a:solidFill>
                  <a:srgbClr val="000000"/>
                </a:solidFill>
              </a:rPr>
              <a:t>front-end for parents to interact with, counsellor registration, etc.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56" name="Google Shape;656;p81"/>
          <p:cNvSpPr txBox="1"/>
          <p:nvPr>
            <p:ph idx="4294967295" type="title"/>
          </p:nvPr>
        </p:nvSpPr>
        <p:spPr>
          <a:xfrm>
            <a:off x="361975" y="369300"/>
            <a:ext cx="64407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Potential for Growth</a:t>
            </a:r>
            <a:endParaRPr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D5CD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2" name="Google Shape;662;p82"/>
          <p:cNvSpPr txBox="1"/>
          <p:nvPr>
            <p:ph idx="4294967295" type="title"/>
          </p:nvPr>
        </p:nvSpPr>
        <p:spPr>
          <a:xfrm>
            <a:off x="361975" y="2509967"/>
            <a:ext cx="571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Questions?</a:t>
            </a:r>
            <a:endParaRPr i="1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